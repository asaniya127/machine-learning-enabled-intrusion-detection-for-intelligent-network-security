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69" r:id="rId7"/>
    <p:sldId id="270" r:id="rId8"/>
    <p:sldId id="271" r:id="rId9"/>
    <p:sldId id="273" r:id="rId10"/>
    <p:sldId id="275" r:id="rId11"/>
    <p:sldId id="276" r:id="rId12"/>
    <p:sldId id="278" r:id="rId13"/>
    <p:sldId id="277" r:id="rId14"/>
    <p:sldId id="274" r:id="rId15"/>
    <p:sldId id="279"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sz="2000"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b="1"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IN" sz="2000" b="1" dirty="0">
                <a:latin typeface="Times New Roman" panose="02020603050405020304" pitchFamily="18" charset="0"/>
                <a:cs typeface="Times New Roman" panose="02020603050405020304" pitchFamily="18" charset="0"/>
              </a:rPr>
              <a:t>Machine Learning Enabled Intrusion Detection for Intelligent Network Security </a:t>
            </a:r>
            <a:endParaRPr lang="en-US" sz="2000" b="1" dirty="0">
              <a:latin typeface="Times New Roman" panose="02020603050405020304" pitchFamily="18" charset="0"/>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marL="342900" indent="-342900" algn="ctr">
              <a:lnSpc>
                <a:spcPct val="100000"/>
              </a:lnSpc>
              <a:spcBef>
                <a:spcPts val="400"/>
              </a:spcBef>
              <a:buFont typeface="Wingdings" panose="05000000000000000000" pitchFamily="2" charset="2"/>
              <a:buChar char="q"/>
            </a:pPr>
            <a:r>
              <a:rPr lang="en-US" sz="2000" spc="-1" dirty="0">
                <a:solidFill>
                  <a:srgbClr val="000000"/>
                </a:solidFill>
                <a:latin typeface="Times New Roman" panose="02020603050405020304" pitchFamily="18" charset="0"/>
                <a:ea typeface="MS PGothic"/>
                <a:cs typeface="Times New Roman" panose="02020603050405020304" pitchFamily="18" charset="0"/>
              </a:rPr>
              <a:t>Saniya</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- 221099787</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marL="342900" indent="-342900" algn="ctr">
              <a:lnSpc>
                <a:spcPct val="100000"/>
              </a:lnSpc>
              <a:spcBef>
                <a:spcPts val="400"/>
              </a:spcBef>
              <a:buFont typeface="Wingdings" panose="05000000000000000000" pitchFamily="2" charset="2"/>
              <a:buChar char="q"/>
            </a:pPr>
            <a:r>
              <a:rPr lang="en-US" sz="2000" spc="-1" dirty="0">
                <a:solidFill>
                  <a:srgbClr val="000000"/>
                </a:solidFill>
                <a:latin typeface="Times New Roman" panose="02020603050405020304" pitchFamily="18" charset="0"/>
                <a:ea typeface="MS PGothic"/>
                <a:cs typeface="Times New Roman" panose="02020603050405020304" pitchFamily="18" charset="0"/>
              </a:rPr>
              <a:t>Mehak – 2210990571</a:t>
            </a: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Monika Aggarwal</a:t>
            </a:r>
          </a:p>
          <a:p>
            <a:pPr algn="ctr">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algn="just">
              <a:buNone/>
            </a:pPr>
            <a:r>
              <a:rPr lang="en-US" b="1" dirty="0">
                <a:latin typeface="Times New Roman" panose="02020603050405020304" pitchFamily="18" charset="0"/>
                <a:cs typeface="Times New Roman" panose="02020603050405020304" pitchFamily="18" charset="0"/>
              </a:rPr>
              <a:t>Machine Learning Enabled Intrusion Detection for Intelligent Network Security</a:t>
            </a:r>
            <a:r>
              <a:rPr lang="en-US" dirty="0">
                <a:latin typeface="Times New Roman" panose="02020603050405020304" pitchFamily="18" charset="0"/>
                <a:cs typeface="Times New Roman" panose="02020603050405020304" pitchFamily="18" charset="0"/>
              </a:rPr>
              <a:t> is an intelligent cybersecurity system designed to detect malicious network activities and protect digital infrastructure in real time.</a:t>
            </a:r>
          </a:p>
          <a:p>
            <a:pPr algn="just">
              <a:buNone/>
            </a:pPr>
            <a:endParaRPr lang="en-US"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The system uses Machine Learning algorithms to analyze network traffic patterns, identify suspicious behavior, classify normal and attack traffic, and generate security alerts automatically.</a:t>
            </a:r>
          </a:p>
          <a:p>
            <a:pPr marL="139700" lvl="0">
              <a:buClr>
                <a:srgbClr val="000000"/>
              </a:buClr>
              <a:buSzPts val="1400"/>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Technologies:</a:t>
            </a:r>
          </a:p>
          <a:p>
            <a:pPr algn="just"/>
            <a:r>
              <a:rPr lang="en-US" dirty="0">
                <a:latin typeface="Times New Roman" panose="02020603050405020304" pitchFamily="18" charset="0"/>
                <a:cs typeface="Times New Roman" panose="02020603050405020304" pitchFamily="18" charset="0"/>
              </a:rPr>
              <a:t>AI &amp; Machine Learning</a:t>
            </a:r>
          </a:p>
          <a:p>
            <a:pPr algn="just"/>
            <a:r>
              <a:rPr lang="en-US" dirty="0">
                <a:latin typeface="Times New Roman" panose="02020603050405020304" pitchFamily="18" charset="0"/>
                <a:cs typeface="Times New Roman" panose="02020603050405020304" pitchFamily="18" charset="0"/>
              </a:rPr>
              <a:t>Network Traffic Analysis</a:t>
            </a:r>
          </a:p>
          <a:p>
            <a:pPr algn="just"/>
            <a:r>
              <a:rPr lang="en-US" dirty="0">
                <a:latin typeface="Times New Roman" panose="02020603050405020304" pitchFamily="18" charset="0"/>
                <a:cs typeface="Times New Roman" panose="02020603050405020304" pitchFamily="18" charset="0"/>
              </a:rPr>
              <a:t>Real-Time Threat Detection</a:t>
            </a: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1997C-F653-3E3D-939F-6055AE03A94D}"/>
              </a:ext>
            </a:extLst>
          </p:cNvPr>
          <p:cNvSpPr>
            <a:spLocks noGrp="1"/>
          </p:cNvSpPr>
          <p:nvPr>
            <p:ph type="title"/>
          </p:nvPr>
        </p:nvSpPr>
        <p:spPr>
          <a:xfrm>
            <a:off x="1150374" y="0"/>
            <a:ext cx="4335666" cy="914040"/>
          </a:xfrm>
        </p:spPr>
        <p:txBody>
          <a:bodyPr/>
          <a:lstStyle/>
          <a:p>
            <a:r>
              <a:rPr lang="en-IN" sz="3200" dirty="0">
                <a:latin typeface="Times New Roman" panose="02020603050405020304" pitchFamily="18" charset="0"/>
                <a:cs typeface="Times New Roman" panose="02020603050405020304" pitchFamily="18" charset="0"/>
              </a:rPr>
              <a:t>          Problem Statement</a:t>
            </a:r>
          </a:p>
        </p:txBody>
      </p:sp>
      <p:sp>
        <p:nvSpPr>
          <p:cNvPr id="3" name="Subtitle 2">
            <a:extLst>
              <a:ext uri="{FF2B5EF4-FFF2-40B4-BE49-F238E27FC236}">
                <a16:creationId xmlns:a16="http://schemas.microsoft.com/office/drawing/2014/main" id="{C8F02E89-861D-829B-19F6-459314C757BC}"/>
              </a:ext>
            </a:extLst>
          </p:cNvPr>
          <p:cNvSpPr>
            <a:spLocks noGrp="1"/>
          </p:cNvSpPr>
          <p:nvPr>
            <p:ph type="subTitle"/>
          </p:nvPr>
        </p:nvSpPr>
        <p:spPr>
          <a:xfrm>
            <a:off x="457200" y="1061884"/>
            <a:ext cx="8229240" cy="4519916"/>
          </a:xfrm>
        </p:spPr>
        <p:txBody>
          <a:bodyPr/>
          <a:lstStyle/>
          <a:p>
            <a:pPr algn="just"/>
            <a:r>
              <a:rPr lang="en-US" sz="1800" dirty="0">
                <a:latin typeface="Times New Roman" panose="02020603050405020304" pitchFamily="18" charset="0"/>
                <a:cs typeface="Times New Roman" panose="02020603050405020304" pitchFamily="18" charset="0"/>
              </a:rPr>
              <a:t>Traditional network security systems and signature-based Intrusion Detection Systems (IDS) mainly depend on predefined attack patterns and manual rule updates, making them less effective against modern and evolving cyber threats. These systems often fail to detect unknown attacks in real time and generate a high number of false alarms.</a:t>
            </a:r>
          </a:p>
          <a:p>
            <a:endParaRPr lang="en-US" sz="18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Issues in Existing Systems:</a:t>
            </a:r>
          </a:p>
          <a:p>
            <a:pPr marL="0" indent="0">
              <a:buNone/>
            </a:pPr>
            <a:endParaRPr lang="en-US" sz="20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Heavy dependence on signature-based detection </a:t>
            </a:r>
          </a:p>
          <a:p>
            <a:pPr algn="just"/>
            <a:r>
              <a:rPr lang="en-US" sz="1800" dirty="0">
                <a:latin typeface="Times New Roman" panose="02020603050405020304" pitchFamily="18" charset="0"/>
                <a:cs typeface="Times New Roman" panose="02020603050405020304" pitchFamily="18" charset="0"/>
              </a:rPr>
              <a:t>Unable to detect zero-day or unknown attacks </a:t>
            </a:r>
          </a:p>
          <a:p>
            <a:pPr algn="just"/>
            <a:r>
              <a:rPr lang="en-US" sz="1800" dirty="0">
                <a:latin typeface="Times New Roman" panose="02020603050405020304" pitchFamily="18" charset="0"/>
                <a:cs typeface="Times New Roman" panose="02020603050405020304" pitchFamily="18" charset="0"/>
              </a:rPr>
              <a:t>High false positive and false negative rates </a:t>
            </a:r>
          </a:p>
          <a:p>
            <a:pPr algn="just"/>
            <a:r>
              <a:rPr lang="en-US" sz="1800" dirty="0">
                <a:latin typeface="Times New Roman" panose="02020603050405020304" pitchFamily="18" charset="0"/>
                <a:cs typeface="Times New Roman" panose="02020603050405020304" pitchFamily="18" charset="0"/>
              </a:rPr>
              <a:t>Difficulty handling large-scale network traffic data</a:t>
            </a:r>
            <a:endParaRPr lang="en-US" sz="1800" b="1"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2192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819A4-888E-E6F3-F15A-485264E6DDD5}"/>
              </a:ext>
            </a:extLst>
          </p:cNvPr>
          <p:cNvSpPr>
            <a:spLocks noGrp="1"/>
          </p:cNvSpPr>
          <p:nvPr>
            <p:ph type="title"/>
          </p:nvPr>
        </p:nvSpPr>
        <p:spPr>
          <a:xfrm>
            <a:off x="570270" y="0"/>
            <a:ext cx="4915769" cy="914040"/>
          </a:xfrm>
        </p:spPr>
        <p:txBody>
          <a:bodyPr/>
          <a:lstStyle/>
          <a:p>
            <a:r>
              <a:rPr lang="en-IN" sz="3200" dirty="0">
                <a:latin typeface="Times New Roman" panose="02020603050405020304" pitchFamily="18" charset="0"/>
                <a:cs typeface="Times New Roman" panose="02020603050405020304" pitchFamily="18" charset="0"/>
              </a:rPr>
              <a:t>                     Solution</a:t>
            </a:r>
          </a:p>
        </p:txBody>
      </p:sp>
      <p:sp>
        <p:nvSpPr>
          <p:cNvPr id="3" name="Subtitle 2">
            <a:extLst>
              <a:ext uri="{FF2B5EF4-FFF2-40B4-BE49-F238E27FC236}">
                <a16:creationId xmlns:a16="http://schemas.microsoft.com/office/drawing/2014/main" id="{B5CF8153-1969-33EC-E514-F5D6D97107B6}"/>
              </a:ext>
            </a:extLst>
          </p:cNvPr>
          <p:cNvSpPr>
            <a:spLocks noGrp="1"/>
          </p:cNvSpPr>
          <p:nvPr>
            <p:ph type="subTitle"/>
          </p:nvPr>
        </p:nvSpPr>
        <p:spPr>
          <a:xfrm>
            <a:off x="324465" y="1120877"/>
            <a:ext cx="8361975" cy="4460923"/>
          </a:xfrm>
        </p:spPr>
        <p:txBody>
          <a:bodyPr/>
          <a:lstStyle/>
          <a:p>
            <a:r>
              <a:rPr lang="en-US" sz="1800" dirty="0">
                <a:latin typeface="Times New Roman" panose="02020603050405020304" pitchFamily="18" charset="0"/>
                <a:cs typeface="Times New Roman" panose="02020603050405020304" pitchFamily="18" charset="0"/>
              </a:rPr>
              <a:t>To overcome the limitations of traditional Intrusion Detection Systems, the following solution is proposed:</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Proposed Solution</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Develop an </a:t>
            </a:r>
            <a:r>
              <a:rPr lang="en-US" sz="1800" b="1" dirty="0">
                <a:latin typeface="Times New Roman" panose="02020603050405020304" pitchFamily="18" charset="0"/>
                <a:cs typeface="Times New Roman" panose="02020603050405020304" pitchFamily="18" charset="0"/>
              </a:rPr>
              <a:t>AI/ML-based Intrusion Detection System (IDS)</a:t>
            </a:r>
            <a:r>
              <a:rPr lang="en-US" sz="1800" dirty="0">
                <a:latin typeface="Times New Roman" panose="02020603050405020304" pitchFamily="18" charset="0"/>
                <a:cs typeface="Times New Roman" panose="02020603050405020304" pitchFamily="18" charset="0"/>
              </a:rPr>
              <a:t> for intelligent network security.</a:t>
            </a:r>
            <a:endParaRPr lang="en-US"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Analyze network traffic data in real time to identify suspicious activities.</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 data preprocessing techniques like feature scaling, encoding, and feature selection to improve model performance. </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Classify network traffic into Normal and Malicious categories automatically.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76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05EF4-FD10-A242-A7A6-9AF3BCF16230}"/>
              </a:ext>
            </a:extLst>
          </p:cNvPr>
          <p:cNvSpPr>
            <a:spLocks noGrp="1"/>
          </p:cNvSpPr>
          <p:nvPr>
            <p:ph type="title"/>
          </p:nvPr>
        </p:nvSpPr>
        <p:spPr>
          <a:xfrm>
            <a:off x="2084438" y="0"/>
            <a:ext cx="3401601" cy="914040"/>
          </a:xfrm>
        </p:spPr>
        <p:txBody>
          <a:bodyPr/>
          <a:lstStyle/>
          <a:p>
            <a:r>
              <a:rPr lang="en-IN" sz="3200" dirty="0">
                <a:latin typeface="Times New Roman" panose="02020603050405020304" pitchFamily="18" charset="0"/>
                <a:cs typeface="Times New Roman" panose="02020603050405020304" pitchFamily="18" charset="0"/>
              </a:rPr>
              <a:t>Features</a:t>
            </a:r>
          </a:p>
        </p:txBody>
      </p:sp>
      <p:sp>
        <p:nvSpPr>
          <p:cNvPr id="3" name="Subtitle 2">
            <a:extLst>
              <a:ext uri="{FF2B5EF4-FFF2-40B4-BE49-F238E27FC236}">
                <a16:creationId xmlns:a16="http://schemas.microsoft.com/office/drawing/2014/main" id="{B99F48BF-1076-DC08-874B-00F3C8CE6E11}"/>
              </a:ext>
            </a:extLst>
          </p:cNvPr>
          <p:cNvSpPr>
            <a:spLocks noGrp="1"/>
          </p:cNvSpPr>
          <p:nvPr>
            <p:ph type="subTitle"/>
          </p:nvPr>
        </p:nvSpPr>
        <p:spPr>
          <a:xfrm>
            <a:off x="353960" y="1052052"/>
            <a:ext cx="8332479" cy="4886632"/>
          </a:xfrm>
        </p:spPr>
        <p:txBody>
          <a:bodyPr/>
          <a:lstStyle/>
          <a:p>
            <a:pPr marL="285750" indent="-285750">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Real-Time Intrusion Detection</a:t>
            </a:r>
            <a:r>
              <a:rPr lang="en-US" sz="1800" dirty="0">
                <a:latin typeface="Times New Roman" panose="02020603050405020304" pitchFamily="18" charset="0"/>
                <a:cs typeface="Times New Roman" panose="02020603050405020304" pitchFamily="18" charset="0"/>
              </a:rPr>
              <a:t> – Continuously monitors network traffic and detects suspicious activities instantly.</a:t>
            </a:r>
          </a:p>
          <a:p>
            <a:pPr marL="285750" indent="-285750">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Machine Learning-Based Detection</a:t>
            </a:r>
            <a:r>
              <a:rPr lang="en-US" sz="1800" dirty="0">
                <a:latin typeface="Times New Roman" panose="02020603050405020304" pitchFamily="18" charset="0"/>
                <a:cs typeface="Times New Roman" panose="02020603050405020304" pitchFamily="18" charset="0"/>
              </a:rPr>
              <a:t> – Uses intelligent ML models to identify attack patterns automatically. </a:t>
            </a:r>
          </a:p>
          <a:p>
            <a:pPr marL="285750" indent="-285750">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Attack Classification</a:t>
            </a:r>
            <a:r>
              <a:rPr lang="en-US" sz="1800" dirty="0">
                <a:latin typeface="Times New Roman" panose="02020603050405020304" pitchFamily="18" charset="0"/>
                <a:cs typeface="Times New Roman" panose="02020603050405020304" pitchFamily="18" charset="0"/>
              </a:rPr>
              <a:t> – Classifies network traffic into </a:t>
            </a:r>
            <a:r>
              <a:rPr lang="en-US" sz="1800" b="1" dirty="0">
                <a:latin typeface="Times New Roman" panose="02020603050405020304" pitchFamily="18" charset="0"/>
                <a:cs typeface="Times New Roman" panose="02020603050405020304" pitchFamily="18" charset="0"/>
              </a:rPr>
              <a:t>Normal</a:t>
            </a:r>
            <a:r>
              <a:rPr lang="en-US" sz="1800" dirty="0">
                <a:latin typeface="Times New Roman" panose="02020603050405020304" pitchFamily="18" charset="0"/>
                <a:cs typeface="Times New Roman" panose="02020603050405020304" pitchFamily="18" charset="0"/>
              </a:rPr>
              <a:t> or </a:t>
            </a:r>
            <a:r>
              <a:rPr lang="en-US" sz="1800" b="1" dirty="0">
                <a:latin typeface="Times New Roman" panose="02020603050405020304" pitchFamily="18" charset="0"/>
                <a:cs typeface="Times New Roman" panose="02020603050405020304" pitchFamily="18" charset="0"/>
              </a:rPr>
              <a:t>Malicious</a:t>
            </a:r>
            <a:r>
              <a:rPr lang="en-US" sz="1800" dirty="0">
                <a:latin typeface="Times New Roman" panose="02020603050405020304" pitchFamily="18" charset="0"/>
                <a:cs typeface="Times New Roman" panose="02020603050405020304" pitchFamily="18" charset="0"/>
              </a:rPr>
              <a:t> categories. </a:t>
            </a:r>
          </a:p>
          <a:p>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Detection of Unknown Attacks</a:t>
            </a:r>
            <a:r>
              <a:rPr lang="en-US" sz="1800" dirty="0">
                <a:latin typeface="Times New Roman" panose="02020603050405020304" pitchFamily="18" charset="0"/>
                <a:cs typeface="Times New Roman" panose="02020603050405020304" pitchFamily="18" charset="0"/>
              </a:rPr>
              <a:t> – Can identify new and evolving cyber threats beyond predefined signatures.</a:t>
            </a:r>
          </a:p>
          <a:p>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High Detection Accuracy</a:t>
            </a:r>
            <a:r>
              <a:rPr lang="en-US" sz="1800" dirty="0">
                <a:latin typeface="Times New Roman" panose="02020603050405020304" pitchFamily="18" charset="0"/>
                <a:cs typeface="Times New Roman" panose="02020603050405020304" pitchFamily="18" charset="0"/>
              </a:rPr>
              <a:t> – Improves security performance with accurate attack prediction.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9132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AA9F1-E7D4-FCB3-9D93-6AF80A5D0285}"/>
              </a:ext>
            </a:extLst>
          </p:cNvPr>
          <p:cNvSpPr>
            <a:spLocks noGrp="1"/>
          </p:cNvSpPr>
          <p:nvPr>
            <p:ph type="title"/>
          </p:nvPr>
        </p:nvSpPr>
        <p:spPr>
          <a:xfrm>
            <a:off x="1543664" y="0"/>
            <a:ext cx="3942375" cy="914040"/>
          </a:xfrm>
        </p:spPr>
        <p:txBody>
          <a:bodyPr/>
          <a:lstStyle/>
          <a:p>
            <a:r>
              <a:rPr lang="en-IN" sz="3200" dirty="0">
                <a:latin typeface="Times New Roman" panose="02020603050405020304" pitchFamily="18" charset="0"/>
                <a:cs typeface="Times New Roman" panose="02020603050405020304" pitchFamily="18" charset="0"/>
              </a:rPr>
              <a:t>Tech Stack</a:t>
            </a:r>
          </a:p>
        </p:txBody>
      </p:sp>
      <p:sp>
        <p:nvSpPr>
          <p:cNvPr id="3" name="Subtitle 2">
            <a:extLst>
              <a:ext uri="{FF2B5EF4-FFF2-40B4-BE49-F238E27FC236}">
                <a16:creationId xmlns:a16="http://schemas.microsoft.com/office/drawing/2014/main" id="{A59B8498-823F-3821-436C-12F8812DDF2A}"/>
              </a:ext>
            </a:extLst>
          </p:cNvPr>
          <p:cNvSpPr>
            <a:spLocks noGrp="1"/>
          </p:cNvSpPr>
          <p:nvPr>
            <p:ph type="subTitle"/>
          </p:nvPr>
        </p:nvSpPr>
        <p:spPr>
          <a:xfrm>
            <a:off x="206477" y="3716594"/>
            <a:ext cx="8479963" cy="914040"/>
          </a:xfrm>
        </p:spPr>
        <p:txBody>
          <a:bodyPr/>
          <a:lstStyle/>
          <a:p>
            <a:r>
              <a:rPr lang="en-US" sz="1800" dirty="0">
                <a:latin typeface="Times New Roman" panose="02020603050405020304" pitchFamily="18" charset="0"/>
                <a:cs typeface="Times New Roman" panose="02020603050405020304" pitchFamily="18" charset="0"/>
              </a:rPr>
              <a:t>The following technologies and tools were used in the research project :</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Programming Language</a:t>
            </a:r>
          </a:p>
          <a:p>
            <a:r>
              <a:rPr lang="en-US" sz="1800" dirty="0">
                <a:latin typeface="Times New Roman" panose="02020603050405020304" pitchFamily="18" charset="0"/>
                <a:cs typeface="Times New Roman" panose="02020603050405020304" pitchFamily="18" charset="0"/>
              </a:rPr>
              <a:t>Python – Used for implementation, model training, and data analysis. </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Libraries &amp; Frameworks</a:t>
            </a:r>
          </a:p>
          <a:p>
            <a:r>
              <a:rPr lang="en-US" sz="1800" dirty="0">
                <a:latin typeface="Times New Roman" panose="02020603050405020304" pitchFamily="18" charset="0"/>
                <a:cs typeface="Times New Roman" panose="02020603050405020304" pitchFamily="18" charset="0"/>
              </a:rPr>
              <a:t>Pandas – Data handling and preprocessing. </a:t>
            </a:r>
          </a:p>
          <a:p>
            <a:r>
              <a:rPr lang="en-US" sz="1800" dirty="0">
                <a:latin typeface="Times New Roman" panose="02020603050405020304" pitchFamily="18" charset="0"/>
                <a:cs typeface="Times New Roman" panose="02020603050405020304" pitchFamily="18" charset="0"/>
              </a:rPr>
              <a:t>NumPy – Numerical computations and array operations. </a:t>
            </a:r>
          </a:p>
          <a:p>
            <a:r>
              <a:rPr lang="en-US" sz="1800" dirty="0">
                <a:latin typeface="Times New Roman" panose="02020603050405020304" pitchFamily="18" charset="0"/>
                <a:cs typeface="Times New Roman" panose="02020603050405020304" pitchFamily="18" charset="0"/>
              </a:rPr>
              <a:t>Scikit-learn – Model training and evaluation. </a:t>
            </a:r>
          </a:p>
          <a:p>
            <a:r>
              <a:rPr lang="en-US" sz="1800" dirty="0">
                <a:latin typeface="Times New Roman" panose="02020603050405020304" pitchFamily="18" charset="0"/>
                <a:cs typeface="Times New Roman" panose="02020603050405020304" pitchFamily="18" charset="0"/>
              </a:rPr>
              <a:t>Matplotlib – Graphs and result visualization. </a:t>
            </a:r>
          </a:p>
          <a:p>
            <a:r>
              <a:rPr lang="en-US" sz="1800" dirty="0">
                <a:latin typeface="Times New Roman" panose="02020603050405020304" pitchFamily="18" charset="0"/>
                <a:cs typeface="Times New Roman" panose="02020603050405020304" pitchFamily="18" charset="0"/>
              </a:rPr>
              <a:t>Seaborn – Confusion matrix and performance plots. </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Machine Learning Algorithms</a:t>
            </a:r>
          </a:p>
          <a:p>
            <a:r>
              <a:rPr lang="en-US" sz="1800" dirty="0">
                <a:latin typeface="Times New Roman" panose="02020603050405020304" pitchFamily="18" charset="0"/>
                <a:cs typeface="Times New Roman" panose="02020603050405020304" pitchFamily="18" charset="0"/>
              </a:rPr>
              <a:t>Logistic Regression </a:t>
            </a:r>
          </a:p>
          <a:p>
            <a:r>
              <a:rPr lang="en-US" sz="1800" dirty="0">
                <a:latin typeface="Times New Roman" panose="02020603050405020304" pitchFamily="18" charset="0"/>
                <a:cs typeface="Times New Roman" panose="02020603050405020304" pitchFamily="18" charset="0"/>
              </a:rPr>
              <a:t>Support Vector Machine </a:t>
            </a:r>
          </a:p>
          <a:p>
            <a:r>
              <a:rPr lang="en-US" sz="1800" dirty="0">
                <a:latin typeface="Times New Roman" panose="02020603050405020304" pitchFamily="18" charset="0"/>
                <a:cs typeface="Times New Roman" panose="02020603050405020304" pitchFamily="18" charset="0"/>
              </a:rPr>
              <a:t>Random Forest </a:t>
            </a:r>
          </a:p>
          <a:p>
            <a:r>
              <a:rPr lang="en-US" sz="1800" b="1" dirty="0">
                <a:latin typeface="Times New Roman" panose="02020603050405020304" pitchFamily="18" charset="0"/>
                <a:cs typeface="Times New Roman" panose="02020603050405020304" pitchFamily="18" charset="0"/>
              </a:rPr>
              <a:t>Dataset</a:t>
            </a:r>
          </a:p>
          <a:p>
            <a:r>
              <a:rPr lang="en-US" sz="1800" dirty="0">
                <a:latin typeface="Times New Roman" panose="02020603050405020304" pitchFamily="18" charset="0"/>
                <a:cs typeface="Times New Roman" panose="02020603050405020304" pitchFamily="18" charset="0"/>
              </a:rPr>
              <a:t>NSL-KDD Dataset – Used for training and testing the intrusion detection models</a:t>
            </a:r>
          </a:p>
          <a:p>
            <a:r>
              <a:rPr lang="en-US" sz="1800" dirty="0"/>
              <a:t>. </a:t>
            </a:r>
          </a:p>
          <a:p>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485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23060-5491-4090-4467-680A34705FE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Subtitle 2">
            <a:extLst>
              <a:ext uri="{FF2B5EF4-FFF2-40B4-BE49-F238E27FC236}">
                <a16:creationId xmlns:a16="http://schemas.microsoft.com/office/drawing/2014/main" id="{B025C9AA-FD8B-2CB2-2E3C-3FAF03BF06BB}"/>
              </a:ext>
            </a:extLst>
          </p:cNvPr>
          <p:cNvSpPr>
            <a:spLocks noGrp="1"/>
          </p:cNvSpPr>
          <p:nvPr>
            <p:ph type="subTitle"/>
          </p:nvPr>
        </p:nvSpPr>
        <p:spPr/>
        <p:txBody>
          <a:bodyPr/>
          <a:lstStyle/>
          <a:p>
            <a:endParaRPr lang="en-US" dirty="0"/>
          </a:p>
        </p:txBody>
      </p:sp>
      <p:pic>
        <p:nvPicPr>
          <p:cNvPr id="4" name="Picture 3">
            <a:extLst>
              <a:ext uri="{FF2B5EF4-FFF2-40B4-BE49-F238E27FC236}">
                <a16:creationId xmlns:a16="http://schemas.microsoft.com/office/drawing/2014/main" id="{009FCDC2-B455-75AB-8A40-12E7469FCF04}"/>
              </a:ext>
            </a:extLst>
          </p:cNvPr>
          <p:cNvPicPr/>
          <p:nvPr/>
        </p:nvPicPr>
        <p:blipFill>
          <a:blip r:embed="rId2"/>
          <a:stretch>
            <a:fillRect/>
          </a:stretch>
        </p:blipFill>
        <p:spPr>
          <a:xfrm>
            <a:off x="1010009" y="1179871"/>
            <a:ext cx="6708313" cy="4709651"/>
          </a:xfrm>
          <a:prstGeom prst="rect">
            <a:avLst/>
          </a:prstGeom>
        </p:spPr>
      </p:pic>
    </p:spTree>
    <p:extLst>
      <p:ext uri="{BB962C8B-B14F-4D97-AF65-F5344CB8AC3E}">
        <p14:creationId xmlns:p14="http://schemas.microsoft.com/office/powerpoint/2010/main" val="3606489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E90B-9454-A639-4D94-A47DCDA12E0A}"/>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FFC5F1F1-0FEE-A7C8-E093-4847B79D1A16}"/>
              </a:ext>
            </a:extLst>
          </p:cNvPr>
          <p:cNvSpPr>
            <a:spLocks noGrp="1"/>
          </p:cNvSpPr>
          <p:nvPr>
            <p:ph type="subTitle"/>
          </p:nvPr>
        </p:nvSpPr>
        <p:spPr/>
        <p:txBody>
          <a:bodyPr/>
          <a:lstStyle/>
          <a:p>
            <a:endParaRPr lang="en-US" dirty="0"/>
          </a:p>
        </p:txBody>
      </p:sp>
      <p:pic>
        <p:nvPicPr>
          <p:cNvPr id="4" name="Picture 3">
            <a:extLst>
              <a:ext uri="{FF2B5EF4-FFF2-40B4-BE49-F238E27FC236}">
                <a16:creationId xmlns:a16="http://schemas.microsoft.com/office/drawing/2014/main" id="{C436710D-EA8F-7A8A-181E-6D65F4CF98D8}"/>
              </a:ext>
            </a:extLst>
          </p:cNvPr>
          <p:cNvPicPr/>
          <p:nvPr/>
        </p:nvPicPr>
        <p:blipFill>
          <a:blip r:embed="rId2"/>
          <a:stretch>
            <a:fillRect/>
          </a:stretch>
        </p:blipFill>
        <p:spPr>
          <a:xfrm>
            <a:off x="353961" y="2098040"/>
            <a:ext cx="4070555" cy="3240876"/>
          </a:xfrm>
          <a:prstGeom prst="rect">
            <a:avLst/>
          </a:prstGeom>
        </p:spPr>
      </p:pic>
      <p:pic>
        <p:nvPicPr>
          <p:cNvPr id="5" name="Picture 4">
            <a:extLst>
              <a:ext uri="{FF2B5EF4-FFF2-40B4-BE49-F238E27FC236}">
                <a16:creationId xmlns:a16="http://schemas.microsoft.com/office/drawing/2014/main" id="{68C82DE7-038A-B5FF-D603-33A6FBCEA585}"/>
              </a:ext>
            </a:extLst>
          </p:cNvPr>
          <p:cNvPicPr/>
          <p:nvPr/>
        </p:nvPicPr>
        <p:blipFill>
          <a:blip r:embed="rId3"/>
          <a:stretch>
            <a:fillRect/>
          </a:stretch>
        </p:blipFill>
        <p:spPr>
          <a:xfrm>
            <a:off x="4994787" y="2281083"/>
            <a:ext cx="3942735" cy="3240875"/>
          </a:xfrm>
          <a:prstGeom prst="rect">
            <a:avLst/>
          </a:prstGeom>
        </p:spPr>
      </p:pic>
    </p:spTree>
    <p:extLst>
      <p:ext uri="{BB962C8B-B14F-4D97-AF65-F5344CB8AC3E}">
        <p14:creationId xmlns:p14="http://schemas.microsoft.com/office/powerpoint/2010/main" val="2877242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3ED43-C929-3E4F-14D7-FCE209A0B768}"/>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0BEF9D73-04EF-00F1-00DF-D1ED0B97598C}"/>
              </a:ext>
            </a:extLst>
          </p:cNvPr>
          <p:cNvSpPr>
            <a:spLocks noGrp="1"/>
          </p:cNvSpPr>
          <p:nvPr>
            <p:ph type="subTitle"/>
          </p:nvPr>
        </p:nvSpPr>
        <p:spPr/>
        <p:txBody>
          <a:bodyPr/>
          <a:lstStyle/>
          <a:p>
            <a:endParaRPr lang="en-US" dirty="0"/>
          </a:p>
        </p:txBody>
      </p:sp>
      <p:pic>
        <p:nvPicPr>
          <p:cNvPr id="4" name="Picture 3">
            <a:extLst>
              <a:ext uri="{FF2B5EF4-FFF2-40B4-BE49-F238E27FC236}">
                <a16:creationId xmlns:a16="http://schemas.microsoft.com/office/drawing/2014/main" id="{022B28B7-6930-12DC-5E45-89D2C293EECD}"/>
              </a:ext>
            </a:extLst>
          </p:cNvPr>
          <p:cNvPicPr/>
          <p:nvPr/>
        </p:nvPicPr>
        <p:blipFill>
          <a:blip r:embed="rId2"/>
          <a:stretch>
            <a:fillRect/>
          </a:stretch>
        </p:blipFill>
        <p:spPr>
          <a:xfrm>
            <a:off x="1930562" y="1916430"/>
            <a:ext cx="4716043" cy="3665370"/>
          </a:xfrm>
          <a:prstGeom prst="rect">
            <a:avLst/>
          </a:prstGeom>
        </p:spPr>
      </p:pic>
    </p:spTree>
    <p:extLst>
      <p:ext uri="{BB962C8B-B14F-4D97-AF65-F5344CB8AC3E}">
        <p14:creationId xmlns:p14="http://schemas.microsoft.com/office/powerpoint/2010/main" val="185058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F91246-2273-7760-0F38-A50D92179AD8}"/>
              </a:ext>
            </a:extLst>
          </p:cNvPr>
          <p:cNvPicPr/>
          <p:nvPr/>
        </p:nvPicPr>
        <p:blipFill>
          <a:blip r:embed="rId2"/>
          <a:stretch>
            <a:fillRect/>
          </a:stretch>
        </p:blipFill>
        <p:spPr>
          <a:xfrm>
            <a:off x="1209369" y="1170039"/>
            <a:ext cx="6971070" cy="4542503"/>
          </a:xfrm>
          <a:prstGeom prst="rect">
            <a:avLst/>
          </a:prstGeom>
        </p:spPr>
      </p:pic>
    </p:spTree>
    <p:extLst>
      <p:ext uri="{BB962C8B-B14F-4D97-AF65-F5344CB8AC3E}">
        <p14:creationId xmlns:p14="http://schemas.microsoft.com/office/powerpoint/2010/main" val="433148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6051-24FD-3254-1312-77C0EE8042F3}"/>
              </a:ext>
            </a:extLst>
          </p:cNvPr>
          <p:cNvSpPr>
            <a:spLocks noGrp="1"/>
          </p:cNvSpPr>
          <p:nvPr>
            <p:ph type="title"/>
          </p:nvPr>
        </p:nvSpPr>
        <p:spPr>
          <a:xfrm>
            <a:off x="1828800" y="0"/>
            <a:ext cx="3657240" cy="914040"/>
          </a:xfrm>
        </p:spPr>
        <p:txBody>
          <a:bodyPr/>
          <a:lstStyle/>
          <a:p>
            <a:r>
              <a:rPr lang="en-IN" sz="3200"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93DE39E8-57A5-CAD0-CD84-D96766F248C0}"/>
              </a:ext>
            </a:extLst>
          </p:cNvPr>
          <p:cNvSpPr>
            <a:spLocks noGrp="1" noChangeArrowheads="1"/>
          </p:cNvSpPr>
          <p:nvPr>
            <p:ph type="subTitle"/>
          </p:nvPr>
        </p:nvSpPr>
        <p:spPr bwMode="auto">
          <a:xfrm>
            <a:off x="206478" y="1912872"/>
            <a:ext cx="8106848"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This research successfully developed a </a:t>
            </a:r>
            <a:r>
              <a:rPr lang="en-US" sz="1800" b="1" dirty="0">
                <a:latin typeface="Times New Roman" panose="02020603050405020304" pitchFamily="18" charset="0"/>
                <a:cs typeface="Times New Roman" panose="02020603050405020304" pitchFamily="18" charset="0"/>
              </a:rPr>
              <a:t>Machine Learning-based Intrusion Detection System</a:t>
            </a:r>
            <a:r>
              <a:rPr lang="en-US" sz="1800" dirty="0">
                <a:latin typeface="Times New Roman" panose="02020603050405020304" pitchFamily="18" charset="0"/>
                <a:cs typeface="Times New Roman" panose="02020603050405020304" pitchFamily="18" charset="0"/>
              </a:rPr>
              <a:t> for intelligent network security. The system accurately detected malicious network activities and improved threat detection performance. Among all models, Random Forest achieved the best result with </a:t>
            </a:r>
            <a:r>
              <a:rPr lang="en-US" sz="1800" b="1" dirty="0">
                <a:latin typeface="Times New Roman" panose="02020603050405020304" pitchFamily="18" charset="0"/>
                <a:cs typeface="Times New Roman" panose="02020603050405020304" pitchFamily="18" charset="0"/>
              </a:rPr>
              <a:t>99.26% accuracy</a:t>
            </a:r>
            <a:r>
              <a:rPr lang="en-US" sz="1800" dirty="0">
                <a:latin typeface="Times New Roman" panose="02020603050405020304" pitchFamily="18" charset="0"/>
                <a:cs typeface="Times New Roman" panose="02020603050405020304" pitchFamily="18" charset="0"/>
              </a:rPr>
              <a:t>, proving that machine learning can enhance real-time cybersecurity and network protection.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5550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DE311-D8F4-C05B-2796-24A97F67B40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Scope</a:t>
            </a:r>
          </a:p>
        </p:txBody>
      </p:sp>
      <p:sp>
        <p:nvSpPr>
          <p:cNvPr id="3" name="Subtitle 2">
            <a:extLst>
              <a:ext uri="{FF2B5EF4-FFF2-40B4-BE49-F238E27FC236}">
                <a16:creationId xmlns:a16="http://schemas.microsoft.com/office/drawing/2014/main" id="{28BF205F-0C98-05CB-30F4-0A8364947CEB}"/>
              </a:ext>
            </a:extLst>
          </p:cNvPr>
          <p:cNvSpPr>
            <a:spLocks noGrp="1"/>
          </p:cNvSpPr>
          <p:nvPr>
            <p:ph type="subTitle"/>
          </p:nvPr>
        </p:nvSpPr>
        <p:spPr>
          <a:xfrm>
            <a:off x="457200" y="471948"/>
            <a:ext cx="8229240" cy="5702710"/>
          </a:xfrm>
        </p:spPr>
        <p:txBody>
          <a:bodyPr/>
          <a:lstStyle/>
          <a:p>
            <a:pPr algn="just"/>
            <a:r>
              <a:rPr lang="en-US" sz="1800" dirty="0"/>
              <a:t>Integration of </a:t>
            </a:r>
            <a:r>
              <a:rPr lang="en-US" sz="1800" b="1" dirty="0"/>
              <a:t>Deep Learning</a:t>
            </a:r>
            <a:r>
              <a:rPr lang="en-US" sz="1800" dirty="0"/>
              <a:t> models for improved detection accuracy.</a:t>
            </a:r>
          </a:p>
          <a:p>
            <a:pPr algn="just"/>
            <a:r>
              <a:rPr lang="en-US" sz="1800" dirty="0"/>
              <a:t> Development of </a:t>
            </a:r>
            <a:r>
              <a:rPr lang="en-US" sz="1800" b="1" dirty="0"/>
              <a:t>real-time intrusion detection</a:t>
            </a:r>
            <a:r>
              <a:rPr lang="en-US" sz="1800" dirty="0"/>
              <a:t> for live network monitoring. </a:t>
            </a:r>
          </a:p>
          <a:p>
            <a:pPr algn="just"/>
            <a:r>
              <a:rPr lang="en-US" sz="1800" dirty="0"/>
              <a:t>Deployment in </a:t>
            </a:r>
            <a:r>
              <a:rPr lang="en-US" sz="1800" b="1" dirty="0"/>
              <a:t>Cloud and IoT security</a:t>
            </a:r>
            <a:r>
              <a:rPr lang="en-US" sz="1800" dirty="0"/>
              <a:t> environments. </a:t>
            </a:r>
          </a:p>
          <a:p>
            <a:pPr algn="just"/>
            <a:r>
              <a:rPr lang="en-US" sz="1800" dirty="0"/>
              <a:t>Use of modern datasets for detecting evolving cyber threats. </a:t>
            </a:r>
          </a:p>
          <a:p>
            <a:pPr algn="just"/>
            <a:r>
              <a:rPr lang="en-US" sz="1800" dirty="0"/>
              <a:t>Implementation of automated threat response for faster security actions.</a:t>
            </a:r>
          </a:p>
        </p:txBody>
      </p:sp>
    </p:spTree>
    <p:extLst>
      <p:ext uri="{BB962C8B-B14F-4D97-AF65-F5344CB8AC3E}">
        <p14:creationId xmlns:p14="http://schemas.microsoft.com/office/powerpoint/2010/main" val="718776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34780</TotalTime>
  <Words>566</Words>
  <Application>Microsoft Office PowerPoint</Application>
  <PresentationFormat>On-screen Show (4:3)</PresentationFormat>
  <Paragraphs>96</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Office Theme</vt:lpstr>
      <vt:lpstr>PowerPoint Presentation</vt:lpstr>
      <vt:lpstr>PowerPoint Presentation</vt:lpstr>
      <vt:lpstr>          Problem Statement</vt:lpstr>
      <vt:lpstr>                     Solution</vt:lpstr>
      <vt:lpstr>Features</vt:lpstr>
      <vt:lpstr>Tech Stack</vt:lpstr>
      <vt:lpstr>Results</vt:lpstr>
      <vt:lpstr>PowerPoint Presentation</vt:lpstr>
      <vt:lpstr>PowerPoint Presentation</vt:lpstr>
      <vt:lpstr>PowerPoint Presentation</vt:lpstr>
      <vt:lpstr>Conclusion</vt:lpstr>
      <vt:lpstr>Future Scope</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rajat shukla</cp:lastModifiedBy>
  <cp:revision>2302</cp:revision>
  <dcterms:created xsi:type="dcterms:W3CDTF">2010-04-09T07:36:15Z</dcterms:created>
  <dcterms:modified xsi:type="dcterms:W3CDTF">2026-05-14T15:45:26Z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